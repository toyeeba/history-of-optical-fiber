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6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76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68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8" Type="http://schemas.openxmlformats.org/officeDocument/2006/relationships/customXml" Target="../customXml/item1.xml"/><Relationship Id="rId27" Type="http://schemas.openxmlformats.org/officeDocument/2006/relationships/customXmlProps" Target="../customXml/itemProps3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solidFill>
            <a:schemeClr val="bg2"/>
          </a:solidFill>
          <a:ln>
            <a:solidFill>
              <a:srgbClr val="1FBB7D"/>
            </a:solidFill>
          </a:ln>
        </p:spPr>
        <p:txBody>
          <a:bodyPr>
            <a:normAutofit fontScale="90000"/>
          </a:bodyPr>
          <a:p>
            <a:pPr marL="914400" indent="-914400" algn="ctr">
              <a:buFont typeface="Arial" panose="020B0604020202020204" pitchFamily="34" charset="0"/>
              <a:buAutoNum type="arabicPeriod"/>
            </a:pPr>
            <a:br>
              <a:rPr lang="en-US" sz="6000">
                <a:latin typeface="Agency FB" panose="020B0503020202020204" charset="0"/>
                <a:cs typeface="Agency FB" panose="020B0503020202020204" charset="0"/>
              </a:rPr>
            </a:br>
            <a:br>
              <a:rPr lang="en-US" sz="6000">
                <a:latin typeface="Agency FB" panose="020B0503020202020204" charset="0"/>
                <a:cs typeface="Agency FB" panose="020B0503020202020204" charset="0"/>
              </a:rPr>
            </a:br>
            <a:br>
              <a:rPr lang="en-US" sz="6000">
                <a:latin typeface="Agency FB" panose="020B0503020202020204" charset="0"/>
                <a:cs typeface="Agency FB" panose="020B0503020202020204" charset="0"/>
              </a:rPr>
            </a:br>
            <a:br>
              <a:rPr lang="en-US" sz="6000">
                <a:latin typeface="Agency FB" panose="020B0503020202020204" charset="0"/>
                <a:cs typeface="Agency FB" panose="020B0503020202020204" charset="0"/>
              </a:rPr>
            </a:br>
            <a:br>
              <a:rPr lang="en-US" sz="6000">
                <a:latin typeface="Agency FB" panose="020B0503020202020204" charset="0"/>
                <a:cs typeface="Agency FB" panose="020B0503020202020204" charset="0"/>
              </a:rPr>
            </a:br>
            <a:br>
              <a:rPr lang="en-US" sz="6000">
                <a:latin typeface="Agency FB" panose="020B0503020202020204" charset="0"/>
                <a:cs typeface="Agency FB" panose="020B0503020202020204" charset="0"/>
              </a:rPr>
            </a:br>
            <a:br>
              <a:rPr lang="en-US" sz="6000">
                <a:latin typeface="Agency FB" panose="020B0503020202020204" charset="0"/>
                <a:cs typeface="Agency FB" panose="020B0503020202020204" charset="0"/>
              </a:rPr>
            </a:br>
            <a:br>
              <a:rPr lang="en-US" sz="6000">
                <a:latin typeface="Agency FB" panose="020B0503020202020204" charset="0"/>
                <a:cs typeface="Agency FB" panose="020B0503020202020204" charset="0"/>
              </a:rPr>
            </a:br>
            <a:br>
              <a:rPr lang="en-US" sz="6000">
                <a:latin typeface="Agency FB" panose="020B0503020202020204" charset="0"/>
                <a:cs typeface="Agency FB" panose="020B0503020202020204" charset="0"/>
              </a:rPr>
            </a:br>
            <a:br>
              <a:rPr lang="en-US" sz="6000">
                <a:latin typeface="Agency FB" panose="020B0503020202020204" charset="0"/>
                <a:cs typeface="Agency FB" panose="020B0503020202020204" charset="0"/>
              </a:rPr>
            </a:br>
            <a:br>
              <a:rPr lang="en-US" sz="6000">
                <a:latin typeface="Agency FB" panose="020B0503020202020204" charset="0"/>
                <a:cs typeface="Agency FB" panose="020B0503020202020204" charset="0"/>
              </a:rPr>
            </a:br>
            <a:br>
              <a:rPr lang="en-US" sz="6000">
                <a:latin typeface="Agency FB" panose="020B0503020202020204" charset="0"/>
                <a:cs typeface="Agency FB" panose="020B0503020202020204" charset="0"/>
              </a:rPr>
            </a:br>
            <a:br>
              <a:rPr lang="en-US" sz="6000">
                <a:latin typeface="Agency FB" panose="020B0503020202020204" charset="0"/>
                <a:cs typeface="Agency FB" panose="020B0503020202020204" charset="0"/>
              </a:rPr>
            </a:br>
            <a:br>
              <a:rPr lang="en-US" sz="6000">
                <a:latin typeface="Agency FB" panose="020B0503020202020204" charset="0"/>
                <a:cs typeface="Agency FB" panose="020B0503020202020204" charset="0"/>
              </a:rPr>
            </a:br>
            <a:br>
              <a:rPr lang="en-US" sz="6000">
                <a:latin typeface="Agency FB" panose="020B0503020202020204" charset="0"/>
                <a:cs typeface="Agency FB" panose="020B0503020202020204" charset="0"/>
              </a:rPr>
            </a:br>
            <a:br>
              <a:rPr lang="en-US" sz="6000">
                <a:latin typeface="Agency FB" panose="020B0503020202020204" charset="0"/>
                <a:cs typeface="Agency FB" panose="020B0503020202020204" charset="0"/>
              </a:rPr>
            </a:br>
            <a:br>
              <a:rPr lang="en-US" sz="6000">
                <a:latin typeface="Agency FB" panose="020B0503020202020204" charset="0"/>
                <a:cs typeface="Agency FB" panose="020B0503020202020204" charset="0"/>
              </a:rPr>
            </a:br>
            <a:br>
              <a:rPr lang="en-US" sz="6000">
                <a:latin typeface="Agency FB" panose="020B0503020202020204" charset="0"/>
                <a:cs typeface="Agency FB" panose="020B0503020202020204" charset="0"/>
              </a:rPr>
            </a:br>
            <a:br>
              <a:rPr lang="en-US" sz="6000">
                <a:latin typeface="Agency FB" panose="020B0503020202020204" charset="0"/>
                <a:cs typeface="Agency FB" panose="020B0503020202020204" charset="0"/>
              </a:rPr>
            </a:br>
            <a:br>
              <a:rPr lang="en-US" sz="6000">
                <a:latin typeface="Agency FB" panose="020B0503020202020204" charset="0"/>
                <a:cs typeface="Agency FB" panose="020B0503020202020204" charset="0"/>
              </a:rPr>
            </a:br>
            <a:br>
              <a:rPr lang="en-US" sz="6000">
                <a:latin typeface="Agency FB" panose="020B0503020202020204" charset="0"/>
                <a:cs typeface="Agency FB" panose="020B0503020202020204" charset="0"/>
              </a:rPr>
            </a:br>
            <a:br>
              <a:rPr lang="en-US" sz="6000">
                <a:latin typeface="Agency FB" panose="020B0503020202020204" charset="0"/>
                <a:cs typeface="Agency FB" panose="020B0503020202020204" charset="0"/>
              </a:rPr>
            </a:br>
            <a:br>
              <a:rPr lang="en-US" sz="6000">
                <a:latin typeface="Agency FB" panose="020B0503020202020204" charset="0"/>
                <a:cs typeface="Agency FB" panose="020B0503020202020204" charset="0"/>
              </a:rPr>
            </a:br>
            <a:r>
              <a:rPr lang="en-US" sz="6000">
                <a:latin typeface="Agency FB" panose="020B0503020202020204" charset="0"/>
                <a:cs typeface="Agency FB" panose="020B0503020202020204" charset="0"/>
              </a:rPr>
              <a:t>   </a:t>
            </a:r>
            <a:br>
              <a:rPr lang="en-US" sz="6000">
                <a:latin typeface="Agency FB" panose="020B0503020202020204" charset="0"/>
                <a:cs typeface="Agency FB" panose="020B0503020202020204" charset="0"/>
              </a:rPr>
            </a:br>
            <a:br>
              <a:rPr lang="en-US" sz="6000">
                <a:latin typeface="Agency FB" panose="020B0503020202020204" charset="0"/>
                <a:cs typeface="Agency FB" panose="020B0503020202020204" charset="0"/>
              </a:rPr>
            </a:br>
            <a:br>
              <a:rPr lang="en-US" sz="6000">
                <a:latin typeface="Agency FB" panose="020B0503020202020204" charset="0"/>
                <a:cs typeface="Agency FB" panose="020B0503020202020204" charset="0"/>
              </a:rPr>
            </a:br>
            <a:r>
              <a:rPr lang="en-US" sz="6000">
                <a:latin typeface="Agency FB" panose="020B0503020202020204" charset="0"/>
                <a:cs typeface="Agency FB" panose="020B0503020202020204" charset="0"/>
              </a:rPr>
              <a:t>Mawlana Bhashani Science and Technology University</a:t>
            </a:r>
            <a:br>
              <a:rPr lang="en-US" sz="6000">
                <a:latin typeface="Agency FB" panose="020B0503020202020204" charset="0"/>
                <a:cs typeface="Agency FB" panose="020B0503020202020204" charset="0"/>
              </a:rPr>
            </a:br>
            <a:r>
              <a:rPr lang="en-US" sz="3110">
                <a:latin typeface="Agency FB" panose="020B0503020202020204" charset="0"/>
                <a:cs typeface="Agency FB" panose="020B0503020202020204" charset="0"/>
                <a:sym typeface="+mn-ea"/>
              </a:rPr>
              <a:t> History of optical fiber</a:t>
            </a:r>
            <a:br>
              <a:rPr lang="en-US" sz="3110">
                <a:latin typeface="Agency FB" panose="020B0503020202020204" charset="0"/>
                <a:cs typeface="Agency FB" panose="020B0503020202020204" charset="0"/>
                <a:sym typeface="+mn-ea"/>
              </a:rPr>
            </a:br>
            <a:r>
              <a:rPr lang="en-US" sz="3110">
                <a:latin typeface="Agency FB" panose="020B0503020202020204" charset="0"/>
                <a:cs typeface="Agency FB" panose="020B0503020202020204" charset="0"/>
                <a:sym typeface="+mn-ea"/>
              </a:rPr>
              <a:t>Course title</a:t>
            </a:r>
            <a:r>
              <a:rPr lang="en-US" sz="3110">
                <a:latin typeface="Agency FB" panose="020B0503020202020204" charset="0"/>
                <a:cs typeface="Agency FB" panose="020B0503020202020204" charset="0"/>
              </a:rPr>
              <a:t>:English Language and Literature</a:t>
            </a:r>
            <a:br>
              <a:rPr lang="en-US" sz="3110">
                <a:latin typeface="Agency FB" panose="020B0503020202020204" charset="0"/>
                <a:cs typeface="Agency FB" panose="020B0503020202020204" charset="0"/>
              </a:rPr>
            </a:br>
            <a:r>
              <a:rPr lang="en-US" sz="3110">
                <a:latin typeface="Agency FB" panose="020B0503020202020204" charset="0"/>
                <a:cs typeface="Agency FB" panose="020B0503020202020204" charset="0"/>
              </a:rPr>
              <a:t>course code:</a:t>
            </a:r>
            <a:r>
              <a:rPr lang="en-US" altLang="zh-CN" sz="3110">
                <a:latin typeface="Agency FB" panose="020B0503020202020204" charset="0"/>
                <a:cs typeface="Agency FB" panose="020B0503020202020204" charset="0"/>
              </a:rPr>
              <a:t>ICT</a:t>
            </a:r>
            <a:r>
              <a:rPr lang="zh-CN" altLang="en-US" sz="3110">
                <a:latin typeface="Agency FB" panose="020B0503020202020204" charset="0"/>
                <a:cs typeface="Agency FB" panose="020B0503020202020204" charset="0"/>
              </a:rPr>
              <a:t>-</a:t>
            </a:r>
            <a:r>
              <a:rPr lang="en-US" sz="3110">
                <a:latin typeface="Agency FB" panose="020B0503020202020204" charset="0"/>
                <a:cs typeface="Agency FB" panose="020B0503020202020204" charset="0"/>
              </a:rPr>
              <a:t>1211</a:t>
            </a:r>
            <a:br>
              <a:rPr lang="en-US" sz="3110">
                <a:latin typeface="Agency FB" panose="020B0503020202020204" charset="0"/>
                <a:cs typeface="Agency FB" panose="020B0503020202020204" charset="0"/>
              </a:rPr>
            </a:br>
            <a:br>
              <a:rPr lang="en-US" sz="6000">
                <a:latin typeface="Agency FB" panose="020B0503020202020204" charset="0"/>
                <a:cs typeface="Agency FB" panose="020B0503020202020204" charset="0"/>
              </a:rPr>
            </a:br>
            <a:br>
              <a:rPr lang="en-US" sz="6000">
                <a:latin typeface="Agency FB" panose="020B0503020202020204" charset="0"/>
                <a:cs typeface="Agency FB" panose="020B0503020202020204" charset="0"/>
              </a:rPr>
            </a:br>
            <a:br>
              <a:rPr lang="en-US" sz="6000">
                <a:latin typeface="Agency FB" panose="020B0503020202020204" charset="0"/>
                <a:cs typeface="Agency FB" panose="020B0503020202020204" charset="0"/>
              </a:rPr>
            </a:br>
            <a:br>
              <a:rPr lang="en-US" sz="6000">
                <a:latin typeface="Agency FB" panose="020B0503020202020204" charset="0"/>
                <a:cs typeface="Agency FB" panose="020B0503020202020204" charset="0"/>
              </a:rPr>
            </a:br>
            <a:br>
              <a:rPr lang="en-US" sz="6000">
                <a:latin typeface="Agency FB" panose="020B0503020202020204" charset="0"/>
                <a:cs typeface="Agency FB" panose="020B0503020202020204" charset="0"/>
              </a:rPr>
            </a:br>
            <a:br>
              <a:rPr lang="en-US" sz="6000">
                <a:latin typeface="Agency FB" panose="020B0503020202020204" charset="0"/>
                <a:cs typeface="Agency FB" panose="020B0503020202020204" charset="0"/>
              </a:rPr>
            </a:br>
            <a:br>
              <a:rPr lang="en-US" sz="6000">
                <a:latin typeface="Agency FB" panose="020B0503020202020204" charset="0"/>
                <a:cs typeface="Agency FB" panose="020B0503020202020204" charset="0"/>
              </a:rPr>
            </a:br>
            <a:br>
              <a:rPr lang="en-US" sz="6000">
                <a:latin typeface="Agency FB" panose="020B0503020202020204" charset="0"/>
                <a:cs typeface="Agency FB" panose="020B0503020202020204" charset="0"/>
              </a:rPr>
            </a:br>
            <a:br>
              <a:rPr lang="en-US" sz="6000">
                <a:latin typeface="Agency FB" panose="020B0503020202020204" charset="0"/>
                <a:cs typeface="Agency FB" panose="020B0503020202020204" charset="0"/>
              </a:rPr>
            </a:br>
            <a:br>
              <a:rPr lang="en-US" sz="6000">
                <a:latin typeface="Agency FB" panose="020B0503020202020204" charset="0"/>
                <a:cs typeface="Agency FB" panose="020B0503020202020204" charset="0"/>
              </a:rPr>
            </a:br>
            <a:br>
              <a:rPr lang="en-US" sz="6000">
                <a:latin typeface="Agency FB" panose="020B0503020202020204" charset="0"/>
                <a:cs typeface="Agency FB" panose="020B0503020202020204" charset="0"/>
              </a:rPr>
            </a:br>
            <a:br>
              <a:rPr lang="en-US" sz="6000">
                <a:latin typeface="Agency FB" panose="020B0503020202020204" charset="0"/>
                <a:cs typeface="Agency FB" panose="020B0503020202020204" charset="0"/>
              </a:rPr>
            </a:br>
            <a:br>
              <a:rPr lang="en-US" sz="6000">
                <a:latin typeface="Agency FB" panose="020B0503020202020204" charset="0"/>
                <a:cs typeface="Agency FB" panose="020B0503020202020204" charset="0"/>
              </a:rPr>
            </a:br>
            <a:br>
              <a:rPr lang="en-US" sz="6000">
                <a:latin typeface="Agency FB" panose="020B0503020202020204" charset="0"/>
                <a:cs typeface="Agency FB" panose="020B0503020202020204" charset="0"/>
              </a:rPr>
            </a:br>
            <a:br>
              <a:rPr lang="en-US" sz="6000">
                <a:latin typeface="Agency FB" panose="020B0503020202020204" charset="0"/>
                <a:cs typeface="Agency FB" panose="020B0503020202020204" charset="0"/>
              </a:rPr>
            </a:br>
            <a:br>
              <a:rPr lang="en-US" sz="6000">
                <a:latin typeface="Agency FB" panose="020B0503020202020204" charset="0"/>
                <a:cs typeface="Agency FB" panose="020B0503020202020204" charset="0"/>
              </a:rPr>
            </a:br>
            <a:br>
              <a:rPr lang="en-US" sz="6000">
                <a:latin typeface="Agency FB" panose="020B0503020202020204" charset="0"/>
                <a:cs typeface="Agency FB" panose="020B0503020202020204" charset="0"/>
              </a:rPr>
            </a:br>
            <a:br>
              <a:rPr lang="en-US" sz="6000">
                <a:latin typeface="Agency FB" panose="020B0503020202020204" charset="0"/>
                <a:cs typeface="Agency FB" panose="020B0503020202020204" charset="0"/>
              </a:rPr>
            </a:br>
            <a:br>
              <a:rPr lang="en-US" sz="6000">
                <a:latin typeface="Agency FB" panose="020B0503020202020204" charset="0"/>
                <a:cs typeface="Agency FB" panose="020B0503020202020204" charset="0"/>
              </a:rPr>
            </a:br>
            <a:br>
              <a:rPr lang="en-US" sz="6000">
                <a:latin typeface="Agency FB" panose="020B0503020202020204" charset="0"/>
                <a:cs typeface="Agency FB" panose="020B0503020202020204" charset="0"/>
              </a:rPr>
            </a:br>
            <a:br>
              <a:rPr lang="en-US" sz="6000">
                <a:latin typeface="Agency FB" panose="020B0503020202020204" charset="0"/>
                <a:cs typeface="Agency FB" panose="020B0503020202020204" charset="0"/>
              </a:rPr>
            </a:br>
            <a:br>
              <a:rPr lang="en-US" sz="6000">
                <a:latin typeface="Agency FB" panose="020B0503020202020204" charset="0"/>
                <a:cs typeface="Agency FB" panose="020B0503020202020204" charset="0"/>
              </a:rPr>
            </a:br>
            <a:br>
              <a:rPr lang="en-US" sz="6000">
                <a:latin typeface="Agency FB" panose="020B0503020202020204" charset="0"/>
                <a:cs typeface="Agency FB" panose="020B0503020202020204" charset="0"/>
              </a:rPr>
            </a:br>
            <a:br>
              <a:rPr lang="en-US" sz="6000">
                <a:latin typeface="Agency FB" panose="020B0503020202020204" charset="0"/>
                <a:cs typeface="Agency FB" panose="020B0503020202020204" charset="0"/>
              </a:rPr>
            </a:br>
            <a:br>
              <a:rPr lang="en-US" sz="6000">
                <a:latin typeface="Agency FB" panose="020B0503020202020204" charset="0"/>
                <a:cs typeface="Agency FB" panose="020B0503020202020204" charset="0"/>
              </a:rPr>
            </a:br>
            <a:br>
              <a:rPr lang="en-US" sz="6000">
                <a:latin typeface="Agency FB" panose="020B0503020202020204" charset="0"/>
                <a:cs typeface="Agency FB" panose="020B0503020202020204" charset="0"/>
              </a:rPr>
            </a:br>
            <a:br>
              <a:rPr lang="en-US" sz="6000">
                <a:latin typeface="Agency FB" panose="020B0503020202020204" charset="0"/>
                <a:cs typeface="Agency FB" panose="020B0503020202020204" charset="0"/>
              </a:rPr>
            </a:br>
            <a:endParaRPr lang="en-US" sz="6000">
              <a:latin typeface="Agency FB" panose="020B0503020202020204" charset="0"/>
              <a:cs typeface="Agency FB" panose="020B05030202020202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>
            <a:normAutofit lnSpcReduction="20000"/>
          </a:bodyPr>
          <a:lstStyle/>
          <a:p>
            <a:pPr marL="0" indent="0">
              <a:buNone/>
            </a:pPr>
            <a:r>
              <a:rPr lang="en-US" sz="2800">
                <a:solidFill>
                  <a:srgbClr val="000000"/>
                </a:solidFill>
              </a:rPr>
              <a:t>Presented by:</a:t>
            </a:r>
            <a:endParaRPr lang="en-US" sz="280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US" sz="2800">
                <a:solidFill>
                  <a:srgbClr val="000000"/>
                </a:solidFill>
              </a:rPr>
              <a:t>Jannatul Ferdaous Toyeeba</a:t>
            </a:r>
            <a:endParaRPr lang="en-US" sz="280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US" sz="2800">
                <a:solidFill>
                  <a:srgbClr val="000000"/>
                </a:solidFill>
              </a:rPr>
              <a:t>ID:</a:t>
            </a:r>
            <a:r>
              <a:rPr lang="en-US" altLang="zh-CN" sz="2800">
                <a:solidFill>
                  <a:srgbClr val="000000"/>
                </a:solidFill>
              </a:rPr>
              <a:t>IT</a:t>
            </a:r>
            <a:r>
              <a:rPr lang="zh-CN" altLang="en-US" sz="2800">
                <a:solidFill>
                  <a:srgbClr val="000000"/>
                </a:solidFill>
              </a:rPr>
              <a:t>-</a:t>
            </a:r>
            <a:r>
              <a:rPr lang="en-US" sz="2800">
                <a:solidFill>
                  <a:srgbClr val="000000"/>
                </a:solidFill>
              </a:rPr>
              <a:t>25059</a:t>
            </a:r>
            <a:endParaRPr lang="en-US" sz="2800">
              <a:solidFill>
                <a:srgbClr val="000000"/>
              </a:solidFill>
            </a:endParaRPr>
          </a:p>
          <a:p>
            <a:pPr marL="0" indent="0">
              <a:buNone/>
            </a:pPr>
            <a:endParaRPr lang="en-US" sz="280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US" sz="2800">
                <a:solidFill>
                  <a:srgbClr val="000000"/>
                </a:solidFill>
              </a:rPr>
              <a:t>Department of Information and Communication Technology,</a:t>
            </a:r>
            <a:r>
              <a:rPr lang="en-US" altLang="zh-CN" sz="2800">
                <a:solidFill>
                  <a:srgbClr val="000000"/>
                </a:solidFill>
              </a:rPr>
              <a:t>Mawlana Bhashani Science and Technology University.</a:t>
            </a:r>
            <a:endParaRPr lang="en-US" sz="2800">
              <a:solidFill>
                <a:srgbClr val="000000"/>
              </a:solidFill>
            </a:endParaRPr>
          </a:p>
          <a:p>
            <a:pPr marL="0" indent="0">
              <a:buNone/>
            </a:pPr>
            <a:endParaRPr lang="en-US" sz="2800">
              <a:solidFill>
                <a:srgbClr val="000000"/>
              </a:solidFill>
            </a:endParaRPr>
          </a:p>
        </p:txBody>
      </p:sp>
      <p:sp>
        <p:nvSpPr>
          <p:cNvPr id="14" name="Content Placeholder 13"/>
          <p:cNvSpPr>
            <a:spLocks noGrp="1"/>
          </p:cNvSpPr>
          <p:nvPr>
            <p:ph sz="half" idx="2"/>
          </p:nvPr>
        </p:nvSpPr>
        <p:spPr>
          <a:xfrm>
            <a:off x="6172200" y="1825664"/>
            <a:ext cx="5181600" cy="4351338"/>
          </a:xfrm>
        </p:spPr>
        <p:txBody>
          <a:bodyPr>
            <a:normAutofit lnSpcReduction="20000"/>
          </a:bodyPr>
          <a:p>
            <a:pPr marL="0" indent="0">
              <a:buNone/>
            </a:pPr>
            <a:r>
              <a:rPr lang="en-US" altLang="zh-CN"/>
              <a:t>S</a:t>
            </a:r>
            <a:r>
              <a:rPr lang="en-US" altLang="zh-CN">
                <a:cs typeface="Arial" panose="020B0604020202020204" pitchFamily="34" charset="0"/>
              </a:rPr>
              <a:t>upervised By:</a:t>
            </a:r>
            <a:endParaRPr lang="en-US" altLang="zh-CN"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zh-CN">
                <a:cs typeface="Arial" panose="020B0604020202020204" pitchFamily="34" charset="0"/>
              </a:rPr>
              <a:t>Dr. Nazrul Islam</a:t>
            </a:r>
            <a:endParaRPr lang="en-US" altLang="zh-CN"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zh-CN">
                <a:cs typeface="Arial" panose="020B0604020202020204" pitchFamily="34" charset="0"/>
              </a:rPr>
              <a:t>Associate Professor,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Department of Information and Communication Technology,Mawlana Bhashani Science and Technology University.</a:t>
            </a:r>
            <a:endParaRPr lang="en-US" altLang="zh-CN"/>
          </a:p>
          <a:p>
            <a:endParaRPr lang="zh-CN" altLang="en-US"/>
          </a:p>
        </p:txBody>
      </p:sp>
      <p:sp>
        <p:nvSpPr>
          <p:cNvPr id="8" name="d08f2f8d-5846-f620-5972-391b04244926-1"/>
          <p:cNvSpPr/>
          <p:nvPr userDrawn="1">
            <p:custDataLst>
              <p:tags r:id="rId1"/>
            </p:custDataLst>
          </p:nvPr>
        </p:nvSpPr>
        <p:spPr>
          <a:xfrm>
            <a:off x="4420870" y="1143000"/>
            <a:ext cx="15875" cy="15875"/>
          </a:xfrm>
          <a:custGeom>
            <a:avLst/>
            <a:gdLst/>
            <a:ahLst/>
            <a:cxnLst/>
            <a:pathLst>
              <a:path w="2" h="2">
                <a:moveTo>
                  <a:pt x="0" y="1"/>
                </a:moveTo>
                <a:cubicBezTo>
                  <a:pt x="0" y="0"/>
                  <a:pt x="0" y="0"/>
                  <a:pt x="1" y="0"/>
                </a:cubicBezTo>
                <a:cubicBezTo>
                  <a:pt x="1" y="0"/>
                  <a:pt x="2" y="0"/>
                  <a:pt x="2" y="1"/>
                </a:cubicBezTo>
                <a:cubicBezTo>
                  <a:pt x="2" y="1"/>
                  <a:pt x="1" y="2"/>
                  <a:pt x="1" y="2"/>
                </a:cubicBezTo>
                <a:cubicBezTo>
                  <a:pt x="0" y="2"/>
                  <a:pt x="0" y="1"/>
                  <a:pt x="0" y="1"/>
                </a:cubicBezTo>
                <a:close/>
              </a:path>
            </a:pathLst>
          </a:custGeom>
          <a:solidFill>
            <a:srgbClr val="E8322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0" name="d08f2f8d-5846-f620-5972-391b04244926-2"/>
          <p:cNvSpPr/>
          <p:nvPr userDrawn="1">
            <p:custDataLst>
              <p:tags r:id="rId2"/>
            </p:custDataLst>
          </p:nvPr>
        </p:nvSpPr>
        <p:spPr>
          <a:xfrm>
            <a:off x="7889875" y="6401435"/>
            <a:ext cx="66675" cy="107315"/>
          </a:xfrm>
          <a:custGeom>
            <a:avLst/>
            <a:gdLst/>
            <a:ahLst/>
            <a:cxnLst/>
            <a:pathLst>
              <a:path w="7" h="11">
                <a:moveTo>
                  <a:pt x="5" y="1"/>
                </a:moveTo>
                <a:lnTo>
                  <a:pt x="5" y="1"/>
                </a:lnTo>
                <a:cubicBezTo>
                  <a:pt x="5" y="1"/>
                  <a:pt x="4" y="2"/>
                  <a:pt x="4" y="3"/>
                </a:cubicBezTo>
                <a:cubicBezTo>
                  <a:pt x="3" y="5"/>
                  <a:pt x="3" y="5"/>
                  <a:pt x="2" y="6"/>
                </a:cubicBezTo>
                <a:cubicBezTo>
                  <a:pt x="2" y="6"/>
                  <a:pt x="2" y="7"/>
                  <a:pt x="1" y="9"/>
                </a:cubicBezTo>
                <a:cubicBezTo>
                  <a:pt x="0" y="10"/>
                  <a:pt x="0" y="11"/>
                  <a:pt x="0" y="11"/>
                </a:cubicBezTo>
                <a:cubicBezTo>
                  <a:pt x="0" y="11"/>
                  <a:pt x="1" y="11"/>
                  <a:pt x="2" y="9"/>
                </a:cubicBezTo>
                <a:cubicBezTo>
                  <a:pt x="3" y="8"/>
                  <a:pt x="3" y="7"/>
                  <a:pt x="3" y="7"/>
                </a:cubicBezTo>
                <a:cubicBezTo>
                  <a:pt x="4" y="6"/>
                  <a:pt x="4" y="5"/>
                  <a:pt x="5" y="4"/>
                </a:cubicBezTo>
                <a:cubicBezTo>
                  <a:pt x="5" y="3"/>
                  <a:pt x="6" y="2"/>
                  <a:pt x="6" y="2"/>
                </a:cubicBezTo>
                <a:cubicBezTo>
                  <a:pt x="7" y="1"/>
                  <a:pt x="7" y="1"/>
                  <a:pt x="7" y="1"/>
                </a:cubicBezTo>
                <a:cubicBezTo>
                  <a:pt x="7" y="0"/>
                  <a:pt x="7" y="0"/>
                  <a:pt x="7" y="0"/>
                </a:cubicBezTo>
                <a:cubicBezTo>
                  <a:pt x="6" y="0"/>
                  <a:pt x="6" y="0"/>
                  <a:pt x="5" y="1"/>
                </a:cubicBezTo>
                <a:lnTo>
                  <a:pt x="4" y="2"/>
                </a:lnTo>
                <a:close/>
              </a:path>
            </a:pathLst>
          </a:custGeom>
          <a:solidFill>
            <a:srgbClr val="E8322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/>
    </mc:Choice>
    <mc:Fallback>
      <p:transition spd="med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838200" y="400844"/>
            <a:ext cx="10515600" cy="1325563"/>
          </a:xfrm>
        </p:spPr>
        <p:txBody>
          <a:bodyPr/>
          <a:p>
            <a:pPr marL="0" indent="0" algn="l">
              <a:buFont typeface="Arial" panose="020B0604020202020204" pitchFamily="34" charset="0"/>
            </a:pPr>
            <a:r>
              <a:rPr lang="en-US">
                <a:latin typeface="Arial Black" panose="020B0A04020102020204" charset="0"/>
                <a:cs typeface="Arial Black" panose="020B0A04020102020204" charset="0"/>
              </a:rPr>
              <a:t>Introduction</a:t>
            </a:r>
            <a:endParaRPr lang="en-US"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969213" y="2167445"/>
            <a:ext cx="10515600" cy="3692525"/>
          </a:xfrm>
        </p:spPr>
        <p:txBody>
          <a:bodyPr/>
          <a:p>
            <a:r>
              <a:rPr lang="en-US"/>
              <a:t>Optical fiber is a technology that transmits light signals through thin glass or plastic fibers.</a:t>
            </a:r>
            <a:endParaRPr lang="en-US"/>
          </a:p>
          <a:p>
            <a:endParaRPr lang="en-US"/>
          </a:p>
          <a:p>
            <a:r>
              <a:rPr lang="en-US"/>
              <a:t>It is widely used in communication ,internet,and medical fields.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9950" y="508000"/>
            <a:ext cx="10452100" cy="4637088"/>
          </a:xfrm>
        </p:spPr>
        <p:txBody>
          <a:bodyPr/>
          <a:p>
            <a:pPr marL="0" indent="0">
              <a:buNone/>
            </a:pPr>
            <a:r>
              <a:rPr lang="en-US" altLang="zh-CN">
                <a:latin typeface="Arial Black" panose="020B0A04020102020204" charset="0"/>
                <a:ea typeface="Arial Black" panose="020B0A04020102020204" charset="0"/>
                <a:cs typeface="Arial Black" panose="020B0A04020102020204" charset="0"/>
              </a:rPr>
              <a:t>Structure of optical Fiber</a:t>
            </a:r>
            <a:endParaRPr lang="en-US" altLang="zh-CN">
              <a:latin typeface="Arial Black" panose="020B0A04020102020204" charset="0"/>
              <a:ea typeface="Arial Black" panose="020B0A04020102020204" charset="0"/>
              <a:cs typeface="Arial Black" panose="020B0A04020102020204" charset="0"/>
            </a:endParaRPr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</a:rPr>
              <a:t>Main Parts:</a:t>
            </a:r>
            <a:endParaRPr lang="en-US" altLang="zh-CN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</a:rPr>
              <a:t>1. Core</a:t>
            </a:r>
            <a:endParaRPr lang="en-US" altLang="zh-CN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</a:rPr>
              <a:t>2.Cladding</a:t>
            </a:r>
            <a:endParaRPr lang="en-US" altLang="zh-CN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</a:rPr>
              <a:t>3.Protective Coating</a:t>
            </a:r>
            <a:endParaRPr lang="en-US" altLang="zh-CN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zh-CN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</a:rPr>
              <a:t>   The core carries light signals.</a:t>
            </a:r>
            <a:endParaRPr lang="en-US" altLang="zh-CN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</a:rPr>
              <a:t>   Cladding reflects light back into the core.</a:t>
            </a:r>
            <a:endParaRPr lang="en-US" altLang="zh-CN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zh-CN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latin typeface="Arial Black" panose="020B0A04020102020204" charset="0"/>
                <a:cs typeface="Arial Black" panose="020B0A04020102020204" charset="0"/>
              </a:rPr>
              <a:t>Early Ideas(19th Century)</a:t>
            </a:r>
            <a:endParaRPr lang="en-US"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In the 1840s ,scientists discovered that light can travel through curved paths.</a:t>
            </a:r>
            <a:endParaRPr lang="en-US"/>
          </a:p>
          <a:p>
            <a:endParaRPr lang="en-US"/>
          </a:p>
          <a:p>
            <a:r>
              <a:rPr lang="en-US"/>
              <a:t>Daniel Colladon demonstrated light guidind in a stream of water.</a:t>
            </a:r>
            <a:endParaRPr lang="en-US"/>
          </a:p>
          <a:p>
            <a:endParaRPr lang="en-US"/>
          </a:p>
          <a:p>
            <a:r>
              <a:rPr lang="en-US"/>
              <a:t>This was the base idea of optical fiber technology.</a:t>
            </a: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latin typeface="Arial Black" panose="020B0A04020102020204" charset="0"/>
                <a:cs typeface="Arial Black" panose="020B0A04020102020204" charset="0"/>
              </a:rPr>
              <a:t>Development in 20th Century</a:t>
            </a:r>
            <a:endParaRPr lang="en-US"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341370"/>
          </a:xfrm>
        </p:spPr>
        <p:txBody>
          <a:bodyPr/>
          <a:p>
            <a:r>
              <a:rPr lang="en-US"/>
              <a:t>1920s: Light used for transmitting images (early TV experiments).</a:t>
            </a:r>
            <a:endParaRPr lang="en-US"/>
          </a:p>
          <a:p>
            <a:endParaRPr lang="en-US"/>
          </a:p>
          <a:p>
            <a:r>
              <a:rPr lang="en-US"/>
              <a:t>1950s: Flexible fiber bundles used in medical endoscopy.</a:t>
            </a:r>
            <a:endParaRPr lang="en-US"/>
          </a:p>
          <a:p>
            <a:endParaRPr lang="en-US"/>
          </a:p>
          <a:p>
            <a:r>
              <a:rPr lang="en-US"/>
              <a:t>Helped doctors see inside the human body.</a:t>
            </a:r>
            <a:endParaRPr lang="en-US"/>
          </a:p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latin typeface="Arial Black" panose="020B0A04020102020204" charset="0"/>
                <a:cs typeface="Arial Black" panose="020B0A04020102020204" charset="0"/>
              </a:rPr>
              <a:t>Major Breakthrough(1960s)</a:t>
            </a:r>
            <a:endParaRPr lang="en-US"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9490" y="1825625"/>
            <a:ext cx="10544810" cy="2593975"/>
          </a:xfrm>
        </p:spPr>
        <p:txBody>
          <a:bodyPr/>
          <a:p>
            <a:r>
              <a:rPr lang="en-US"/>
              <a:t>1966:Charles Kao proposed fiber optics for communication.</a:t>
            </a:r>
            <a:endParaRPr lang="en-US"/>
          </a:p>
          <a:p>
            <a:r>
              <a:rPr lang="en-US"/>
              <a:t>Showed that pure glass reduces signal loss.</a:t>
            </a:r>
            <a:endParaRPr lang="en-US"/>
          </a:p>
          <a:p>
            <a:endParaRPr lang="en-US"/>
          </a:p>
          <a:p>
            <a:r>
              <a:rPr lang="en-US"/>
              <a:t>known as the “Father of Fiber Optics”.</a:t>
            </a:r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latin typeface="Arial Black" panose="020B0A04020102020204" charset="0"/>
                <a:cs typeface="Arial Black" panose="020B0A04020102020204" charset="0"/>
              </a:rPr>
              <a:t>First Practical Use (1970s)</a:t>
            </a:r>
            <a:endParaRPr lang="en-US"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632440" cy="2299335"/>
          </a:xfrm>
        </p:spPr>
        <p:txBody>
          <a:bodyPr/>
          <a:p>
            <a:r>
              <a:rPr lang="en-US"/>
              <a:t>1970: First low-loss optical fiber developed.</a:t>
            </a:r>
            <a:endParaRPr lang="en-US"/>
          </a:p>
          <a:p>
            <a:endParaRPr lang="en-US"/>
          </a:p>
          <a:p>
            <a:r>
              <a:rPr lang="en-US"/>
              <a:t>Enabled long-distance communication.</a:t>
            </a:r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latin typeface="Arial Black" panose="020B0A04020102020204" charset="0"/>
                <a:cs typeface="Arial Black" panose="020B0A04020102020204" charset="0"/>
              </a:rPr>
              <a:t>Expansion(1980s-1990s)</a:t>
            </a:r>
            <a:endParaRPr lang="en-US"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256790"/>
          </a:xfrm>
        </p:spPr>
        <p:txBody>
          <a:bodyPr/>
          <a:p>
            <a:r>
              <a:rPr lang="en-US"/>
              <a:t>Rapid growth in telecommunication.</a:t>
            </a:r>
            <a:endParaRPr lang="en-US"/>
          </a:p>
          <a:p>
            <a:r>
              <a:rPr lang="en-US"/>
              <a:t>Fiber optics replaced copper wires.</a:t>
            </a:r>
            <a:endParaRPr lang="en-US"/>
          </a:p>
          <a:p>
            <a:r>
              <a:rPr lang="en-US"/>
              <a:t>used in telephone ,cable Tv ,and internet.</a:t>
            </a:r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>
                <a:latin typeface="Arial Black" panose="020B0A04020102020204" charset="0"/>
                <a:cs typeface="Arial Black" panose="020B0A04020102020204" charset="0"/>
              </a:rPr>
              <a:t>Modern uses</a:t>
            </a:r>
            <a:endParaRPr lang="en-US"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388870"/>
          </a:xfrm>
        </p:spPr>
        <p:txBody>
          <a:bodyPr/>
          <a:p>
            <a:r>
              <a:rPr lang="en-US"/>
              <a:t>High-speed internet(fiber broadband).</a:t>
            </a:r>
            <a:endParaRPr lang="en-US"/>
          </a:p>
          <a:p>
            <a:r>
              <a:rPr lang="en-US"/>
              <a:t>Medical tools(endoscopy)</a:t>
            </a:r>
            <a:endParaRPr lang="en-US"/>
          </a:p>
          <a:p>
            <a:r>
              <a:rPr lang="en-US"/>
              <a:t>Military communication.</a:t>
            </a:r>
            <a:endParaRPr lang="en-US"/>
          </a:p>
          <a:p>
            <a:r>
              <a:rPr lang="en-US"/>
              <a:t>Data centers.</a:t>
            </a:r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latin typeface="Arial Black" panose="020B0A04020102020204" charset="0"/>
                <a:cs typeface="Arial Black" panose="020B0A04020102020204" charset="0"/>
              </a:rPr>
              <a:t>Advantages</a:t>
            </a:r>
            <a:endParaRPr lang="en-US"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705465" cy="3047365"/>
          </a:xfrm>
        </p:spPr>
        <p:txBody>
          <a:bodyPr/>
          <a:p>
            <a:r>
              <a:rPr lang="en-US"/>
              <a:t>Very fast data transmission.</a:t>
            </a:r>
            <a:endParaRPr lang="en-US"/>
          </a:p>
          <a:p>
            <a:r>
              <a:rPr lang="en-US"/>
              <a:t>Low signal loss.</a:t>
            </a:r>
            <a:endParaRPr lang="en-US"/>
          </a:p>
          <a:p>
            <a:r>
              <a:rPr lang="en-US"/>
              <a:t>Lightweight and flexible.</a:t>
            </a:r>
            <a:endParaRPr lang="en-US"/>
          </a:p>
          <a:p>
            <a:r>
              <a:rPr lang="en-US"/>
              <a:t>No electromagnetic interference</a:t>
            </a:r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latin typeface="Arial Black" panose="020B0A04020102020204" charset="0"/>
                <a:cs typeface="Arial Black" panose="020B0A04020102020204" charset="0"/>
              </a:rPr>
              <a:t>Conclusion</a:t>
            </a:r>
            <a:endParaRPr lang="en-US"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Optical fiber has revolutionized communication.</a:t>
            </a:r>
            <a:endParaRPr lang="en-US"/>
          </a:p>
          <a:p>
            <a:endParaRPr lang="en-US"/>
          </a:p>
          <a:p>
            <a:r>
              <a:rPr lang="en-US"/>
              <a:t>It is essential for modern digital life and future technology.</a:t>
            </a:r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ext Box 6"/>
          <p:cNvSpPr txBox="1"/>
          <p:nvPr/>
        </p:nvSpPr>
        <p:spPr>
          <a:xfrm>
            <a:off x="3853180" y="2806065"/>
            <a:ext cx="406400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6000">
                <a:latin typeface="Arial Black" panose="020B0A04020102020204" charset="0"/>
                <a:cs typeface="Arial Black" panose="020B0A04020102020204" charset="0"/>
              </a:rPr>
              <a:t>Thank You...</a:t>
            </a:r>
            <a:endParaRPr lang="en-US" sz="6000">
              <a:latin typeface="Arial Black" panose="020B0A04020102020204" charset="0"/>
              <a:cs typeface="Arial Black" panose="020B0A0402010202020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ags/tag1.xml><?xml version="1.0" encoding="utf-8"?>
<p:tagLst xmlns:p="http://schemas.openxmlformats.org/presentationml/2006/main">
  <p:tag name="KSO_WEBWPP_OBJECT_TOKEN" val="PLAY_INK_1777621088005"/>
</p:tagLst>
</file>

<file path=ppt/tags/tag2.xml><?xml version="1.0" encoding="utf-8"?>
<p:tagLst xmlns:p="http://schemas.openxmlformats.org/presentationml/2006/main">
  <p:tag name="KSO_WEBWPP_OBJECT_TOKEN" val="PLAY_INK_1777621088005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item1.xml><?xml version="1.0" encoding="utf-8"?>
<s:customData xmlns="http://www.wps.cn/officeDocument/2013/wpsCustomData" xmlns:s="http://www.wps.cn/officeDocument/2013/wpsCustomData">
  <extobjs>
    <extobj name="d08f2f8d-5846-f620-5972-391b04244926-1">
      <extobjdata type="d08f2f8d-5846-f620-5972-391b04244926" data="ewoJIkRhdGEiIDogIntcIm9sZFJlY3RcIjp7XCJ4XCI6NDY0LjE3LFwieVwiOjEyMCxcIndpZHRoXCI6MS42NyxcImhlaWdodFwiOjEuNjd9LFwicG9pbnRzXCI6WzU1OCwxNDUsMTc3NzYyMTEyNzE4Nl0sXCJ3aWR0aFwiOjEsXCJvcmlnaW5ab29tXCI6MS4yfSIsCgkiVHlwZSIgOiAidGV4dCIKfQo="/>
    </extobj>
    <extobj name="d08f2f8d-5846-f620-5972-391b04244926-2">
      <extobjdata type="d08f2f8d-5846-f620-5972-391b04244926" data="ewoJIkRhdGEiIDogIntcIm9sZFJlY3RcIjp7XCJ4XCI6ODI4LjMzLFwieVwiOjY3Mi4xMSxcIndpZHRoXCI6Ny4wNixcImhlaWdodFwiOjExLjIzfSxcInBvaW50c1wiOls5OTQsODIwLDE3Nzc2MjExMzE3NTgsMywtNSw1NSw0LC03LDcyLDYsLTExLDg4LDgsLTEzLDE4NF0sXCJ3aWR0aFwiOjEsXCJvcmlnaW5ab29tXCI6MS4yfSIsCgkiVHlwZSIgOiAidGV4dCIKfQo="/>
    </extobj>
  </extobjs>
</s:customData>
</file>

<file path=customXml/itemProps3.xml><?xml version="1.0" encoding="utf-8"?>
<ds:datastoreItem xmlns:ds="http://schemas.openxmlformats.org/officeDocument/2006/customXml" ds:itemID="s:customData">
  <ds:schemaRefs>
    <ds:schemaRef ds:uri="http://www.wps.cn/officeDocument/2013/wpsCustomDat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1997</Words>
  <Application>WPS Office WWO_wpscloud_20260423115602-febe6525c7</Application>
  <PresentationFormat>Widescreen</PresentationFormat>
  <Paragraphs>93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2" baseType="lpstr">
      <vt:lpstr>Arial</vt:lpstr>
      <vt:lpstr>宋体</vt:lpstr>
      <vt:lpstr>Wingdings</vt:lpstr>
      <vt:lpstr>Agency FB</vt:lpstr>
      <vt:lpstr>Arial Black</vt:lpstr>
      <vt:lpstr>Calibri</vt:lpstr>
      <vt:lpstr>微软雅黑</vt:lpstr>
      <vt:lpstr>汉仪旗黑KW 55S</vt:lpstr>
      <vt:lpstr>汉仪书宋二KW</vt:lpstr>
      <vt:lpstr>Kingsoft Confetti</vt:lpstr>
      <vt:lpstr>Office Theme</vt:lpstr>
      <vt:lpstr>                             Mawlana Bhashani Science and Technology University  History of optical fiber Course title:English Language and Literature course code:ICT-1211                            </vt:lpstr>
      <vt:lpstr>Introduction</vt:lpstr>
      <vt:lpstr>PowerPoint 演示文稿</vt:lpstr>
      <vt:lpstr>Early Ideas(19th Century)</vt:lpstr>
      <vt:lpstr>Development in 20th Century</vt:lpstr>
      <vt:lpstr>Major Breakthrough(1960s)</vt:lpstr>
      <vt:lpstr>First Practical Use (1970s)</vt:lpstr>
      <vt:lpstr>Expansion(1980s-1990s)</vt:lpstr>
      <vt:lpstr>Modern uses</vt:lpstr>
      <vt:lpstr>Advantages</vt:lpstr>
      <vt:lpstr>Conclusion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_x000B_                            Mawlana Bhashani Science and Technology University  History of optical fiber Course title:English Language and Literature course code:ICT-1211                            </dc:title>
  <dc:creator>toyee</dc:creator>
  <cp:lastModifiedBy>Jannatul Toyeeba</cp:lastModifiedBy>
  <dcterms:created xsi:type="dcterms:W3CDTF">2026-05-08T04:15:21Z</dcterms:created>
  <dcterms:modified xsi:type="dcterms:W3CDTF">2026-05-08T04:15:21Z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ABE0D6E15BB644BE9D90B48C028CBEBF_11</vt:lpwstr>
  </property>
  <property fmtid="{D5CDD505-2E9C-101B-9397-08002B2CF9AE}" pid="3" name="KSOProductBuildVer">
    <vt:lpwstr>2052-12.9.0.26352</vt:lpwstr>
  </property>
</Properties>
</file>